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7eaa231b24814" /><Relationship Type="http://schemas.openxmlformats.org/officeDocument/2006/relationships/extended-properties" Target="/docProps/app.xml" Id="R84674346d1bd4239" /><Relationship Type="http://schemas.openxmlformats.org/officeDocument/2006/relationships/officeDocument" Target="/ppt/presentation.xml" Id="R8e5a18bb6827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1d3e7879445d6"/>
  </p:sldMasterIdLst>
  <p:notesMasterIdLst>
    <p:notesMasterId xmlns:r="http://schemas.openxmlformats.org/officeDocument/2006/relationships" r:id="R54a7e3bcf92b42c4"/>
  </p:notesMasterIdLst>
  <p:sldIdLst>
    <p:sldId xmlns:r="http://schemas.openxmlformats.org/officeDocument/2006/relationships" id="256" r:id="Rd4e55cb3f4f643b1"/>
    <p:sldId xmlns:r="http://schemas.openxmlformats.org/officeDocument/2006/relationships" id="257" r:id="R73cc4b0bbc8c45af"/>
    <p:sldId xmlns:r="http://schemas.openxmlformats.org/officeDocument/2006/relationships" id="258" r:id="Rcf2c19d45c0a4164"/>
    <p:sldId xmlns:r="http://schemas.openxmlformats.org/officeDocument/2006/relationships" id="259" r:id="Rd371f2fec05d45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24a1bce8445fa" /><Relationship Type="http://schemas.openxmlformats.org/officeDocument/2006/relationships/slideMaster" Target="/ppt/slideMasters/slideMaster1.xml" Id="R8e01d3e7879445d6" /><Relationship Type="http://schemas.openxmlformats.org/officeDocument/2006/relationships/notesMaster" Target="/ppt/notesMasters/notesMaster1.xml" Id="R54a7e3bcf92b42c4" /><Relationship Type="http://schemas.openxmlformats.org/officeDocument/2006/relationships/presProps" Target="/ppt/presProps.xml" Id="R5d87239c2f70454d" /><Relationship Type="http://schemas.openxmlformats.org/officeDocument/2006/relationships/tableStyles" Target="/ppt/tableStyles.xml" Id="R7fa4280378d54769" /><Relationship Type="http://schemas.openxmlformats.org/officeDocument/2006/relationships/slide" Target="/ppt/slides/slide1.xml" Id="Rd4e55cb3f4f643b1" /><Relationship Type="http://schemas.openxmlformats.org/officeDocument/2006/relationships/slide" Target="/ppt/slides/slide2.xml" Id="R73cc4b0bbc8c45af" /><Relationship Type="http://schemas.openxmlformats.org/officeDocument/2006/relationships/slide" Target="/ppt/slides/slide3.xml" Id="Rcf2c19d45c0a4164" /><Relationship Type="http://schemas.openxmlformats.org/officeDocument/2006/relationships/slide" Target="/ppt/slides/slide4.xml" Id="Rd371f2fec05d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aeccf57cd4f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3679f537a4d3c" /><Relationship Type="http://schemas.openxmlformats.org/officeDocument/2006/relationships/notesMaster" Target="/ppt/notesMasters/notesMaster1.xml" Id="Rf37b4d40b7bc4e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d19a717aa4b38" /><Relationship Type="http://schemas.openxmlformats.org/officeDocument/2006/relationships/notesMaster" Target="/ppt/notesMasters/notesMaster1.xml" Id="R6477b3a304d6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b161a30af34982" /><Relationship Type="http://schemas.openxmlformats.org/officeDocument/2006/relationships/notesMaster" Target="/ppt/notesMasters/notesMaster1.xml" Id="R7fde706849644c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ea751649e4b92" /><Relationship Type="http://schemas.openxmlformats.org/officeDocument/2006/relationships/notesMaster" Target="/ppt/notesMasters/notesMaster1.xml" Id="R0726e2f9061e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docs/research/cross_task_hybrid_mechanism_synthesis_2026-08-06.md</a:t>
            </a:r>
          </a:p>
          <a:p xmlns:a="http://schemas.openxmlformats.org/drawingml/2006/main">
            <a:r>
              <a:t>- docs/canon/10_paper_provenance.md — C18-C19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docs/research/gan2026_hybrid_stage_ablation_2026-08-06.md — Plain answer; ordinary_point_rate band; monthly_diary stage ledger</a:t>
            </a:r>
          </a:p>
          <a:p xmlns:a="http://schemas.openxmlformats.org/drawingml/2006/main">
            <a:r>
              <a:t>- docs/research/cross_task_hybrid_mechanism_synthesis_2026-08-06.md — Mass first-changers inside hybrid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docs/research/exectv2_hybrid_stage_ablation_2026-08-06.md — Plain answer; first-changer stage ledger by family</a:t>
            </a:r>
          </a:p>
          <a:p xmlns:a="http://schemas.openxmlformats.org/drawingml/2006/main">
            <a:r>
              <a:t>- docs/research/cross_task_hybrid_mechanism_synthesis_2026-08-06.md — ExECT mass first-changers and rules jobs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docs/canon/10_paper_provenance.md — C18-C19 boundaries</a:t>
            </a:r>
          </a:p>
          <a:p xmlns:a="http://schemas.openxmlformats.org/drawingml/2006/main">
            <a:r>
              <a:t>- docs/research/cross_task_hybrid_mechanism_synthesis_2026-08-06.md — Claim boundary and Still 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d785f41f6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904a81985f488a" /><Relationship Type="http://schemas.openxmlformats.org/officeDocument/2006/relationships/slideLayout" Target="/ppt/slideLayouts/slideLayout1.xml" Id="R5c443da495e0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43da495e0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125c819db4ac8" /><Relationship Type="http://schemas.openxmlformats.org/officeDocument/2006/relationships/notesSlide" Target="/ppt/notesSlides/notesSlide1.xml" Id="R0549447b835547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f42afc9c241c0" /><Relationship Type="http://schemas.openxmlformats.org/officeDocument/2006/relationships/chart" Target="/ppt/slides/charts/chart1.xml" Id="R0e98080720894c24" /><Relationship Type="http://schemas.openxmlformats.org/officeDocument/2006/relationships/notesSlide" Target="/ppt/notesSlides/notesSlide2.xml" Id="R6eb209475a6745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96b9d87842e3" /><Relationship Type="http://schemas.openxmlformats.org/officeDocument/2006/relationships/chart" Target="/ppt/slides/charts/chart2.xml" Id="R20b5e6dfa1b449d9" /><Relationship Type="http://schemas.openxmlformats.org/officeDocument/2006/relationships/notesSlide" Target="/ppt/notesSlides/notesSlide3.xml" Id="R03a4600437ed44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ef2d6a7d44d22" /><Relationship Type="http://schemas.openxmlformats.org/officeDocument/2006/relationships/notesSlide" Target="/ppt/notesSlides/notesSlide4.xml" Id="R02130ac0bebe46a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Purist accuracy</c:v>
          </c:tx>
          <c:spPr>
            <a:ln xmlns:a="http://schemas.openxmlformats.org/drawingml/2006/main" w="38100">
              <a:solidFill>
                <a:srgbClr val="1677B8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677B8"/>
              </a:solidFill>
            </c:spPr>
          </c:marker>
          <c:cat>
            <c:strLit>
              <c:ptCount val="5"/>
              <c:pt idx="0">
                <c:v>Model</c:v>
              </c:pt>
              <c:pt idx="1">
                <c:v>Resolve</c:v>
              </c:pt>
              <c:pt idx="2">
                <c:v>Evidence</c:v>
              </c:pt>
              <c:pt idx="3">
                <c:v>Selection</c:v>
              </c:pt>
              <c:pt idx="4">
                <c:v>Final</c:v>
              </c:pt>
            </c:strLit>
          </c:cat>
          <c:val>
            <c:numLit>
              <c:formatCode>0</c:formatCode>
              <c:ptCount val="5"/>
              <c:pt idx="0">
                <c:v>37</c:v>
              </c:pt>
              <c:pt idx="1">
                <c:v>37</c:v>
              </c:pt>
              <c:pt idx="2">
                <c:v>72</c:v>
              </c:pt>
              <c:pt idx="3">
                <c:v>85</c:v>
              </c:pt>
              <c:pt idx="4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Any rescue</c:v>
          </c:tx>
          <c:spPr>
            <a:solidFill xmlns:a="http://schemas.openxmlformats.org/drawingml/2006/main">
              <a:srgbClr val="1677B8"/>
            </a:solidFill>
          </c:spPr>
          <c:cat>
            <c:strLit>
              <c:ptCount val="4"/>
              <c:pt idx="0">
                <c:v>Diagnosis</c:v>
              </c:pt>
              <c:pt idx="1">
                <c:v>Seizure frequency</c:v>
              </c:pt>
              <c:pt idx="2">
                <c:v>Prescription</c:v>
              </c:pt>
              <c:pt idx="3">
                <c:v>Investigations</c:v>
              </c:pt>
            </c:strLit>
          </c:cat>
          <c:val>
            <c:numLit>
              <c:formatCode>General</c:formatCode>
              <c:ptCount val="4"/>
              <c:pt idx="0">
                <c:v>214</c:v>
              </c:pt>
              <c:pt idx="1">
                <c:v>305</c:v>
              </c:pt>
              <c:pt idx="2">
                <c:v>44</c:v>
              </c:pt>
              <c:pt idx="3">
                <c:v>2</c:v>
              </c:pt>
            </c:numLit>
          </c:val>
        </c:ser>
        <c:ser>
          <c:idx val="1"/>
          <c:order val="1"/>
          <c:tx>
            <c:v>Any harm</c:v>
          </c:tx>
          <c:spPr>
            <a:solidFill xmlns:a="http://schemas.openxmlformats.org/drawingml/2006/main">
              <a:srgbClr val="C6553D"/>
            </a:solidFill>
          </c:spPr>
          <c:cat>
            <c:strLit>
              <c:ptCount val="4"/>
              <c:pt idx="0">
                <c:v>Diagnosis</c:v>
              </c:pt>
              <c:pt idx="1">
                <c:v>Seizure frequency</c:v>
              </c:pt>
              <c:pt idx="2">
                <c:v>Prescription</c:v>
              </c:pt>
              <c:pt idx="3">
                <c:v>Investigations</c:v>
              </c:pt>
            </c:strLit>
          </c:cat>
          <c:val>
            <c:numLit>
              <c:formatCode>General</c:formatCode>
              <c:ptCount val="4"/>
              <c:pt idx="0">
                <c:v>49</c:v>
              </c:pt>
              <c:pt idx="1">
                <c:v>0</c:v>
              </c:pt>
              <c:pt idx="2">
                <c:v>60</c:v>
              </c:pt>
              <c:pt idx="3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139974AD-262D-4EFD-96A0-AD68FC3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COMPONENT EVIDENCE · DEVELOPMENT REPLAY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268B09-501D-4726-8380-AFBC02F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2870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Recorded rules shape collected facts—and sometimes make the answer worse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D869F80-D787-496D-9FAA-DF0D72A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7524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The proposed method collects facts and quotes; recorded rules then shape a designed form. Replays show rescue, harm, and no-op. They do not prove causal necessity.</a:t>
            </a:r>
          </a:p>
        </p:txBody>
      </p:sp>
      <p:sp>
        <p:nvSpPr>
          <p:cNvPr id="4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6EFBC11-F8FE-44F3-A8C6-A8646E25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4960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an-title">
            <a:extLst xmlns:a="http://schemas.openxmlformats.org/drawingml/2006/main">
              <a:ext uri="{FF2B5EF4-FFF2-40B4-BE49-F238E27FC236}">
                <a16:creationId xmlns:a16="http://schemas.microsoft.com/office/drawing/2014/main" id="{5DA65967-8034-4992-895B-E1C8B130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014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On Gan, evidence reconcile creates most of the lift</a:t>
            </a:r>
          </a:p>
        </p:txBody>
      </p:sp>
      <p:sp>
        <p:nvSpPr>
          <p:cNvPr id="2" name="gan-chart-label">
            <a:extLst xmlns:a="http://schemas.openxmlformats.org/drawingml/2006/main">
              <a:ext uri="{FF2B5EF4-FFF2-40B4-BE49-F238E27FC236}">
                <a16:creationId xmlns:a16="http://schemas.microsoft.com/office/drawing/2014/main" id="{3278F753-F226-4EE3-B396-D4BF9433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542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Ordinary point-rate Purist accuracy by replay checkpoint</a:t>
            </a:r>
          </a:p>
        </p:txBody>
      </p:sp>
      <p:sp>
        <p:nvSpPr>
          <p:cNvPr id="3" name="gan-interpretation">
            <a:extLst xmlns:a="http://schemas.openxmlformats.org/drawingml/2006/main">
              <a:ext uri="{FF2B5EF4-FFF2-40B4-BE49-F238E27FC236}">
                <a16:creationId xmlns:a16="http://schemas.microsoft.com/office/drawing/2014/main" id="{A9AE4CB1-35FC-4E6B-9D9A-7439E13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5054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1042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can find relevant language, but the selected-evidence stage resolves the mass of malformed or incomplete frequency readings. Clinical selection then adds a smaller lift—and most of the remaining harm.</a:t>
            </a:r>
          </a:p>
        </p:txBody>
      </p:sp>
      <p:sp>
        <p:nvSpPr>
          <p:cNvPr id="4" name="gan-stat-one">
            <a:extLst xmlns:a="http://schemas.openxmlformats.org/drawingml/2006/main">
              <a:ext uri="{FF2B5EF4-FFF2-40B4-BE49-F238E27FC236}">
                <a16:creationId xmlns:a16="http://schemas.microsoft.com/office/drawing/2014/main" id="{7E7B1188-2CCC-4C34-86FE-DE5BDC39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20764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677B8"/>
                </a:solidFill>
                <a:latin typeface="Helvetica Neue"/>
                <a:ea typeface="Helvetica Neue"/>
                <a:cs typeface="Helvetica Neue"/>
              </a:defRPr>
            </a:pPr>
            <a:r>
              <a:t>2,925
first changes</a:t>
            </a:r>
          </a:p>
        </p:txBody>
      </p:sp>
      <p:sp>
        <p:nvSpPr>
          <p:cNvPr id="5" name="gan-stat-one-label">
            <a:extLst xmlns:a="http://schemas.openxmlformats.org/drawingml/2006/main">
              <a:ext uri="{FF2B5EF4-FFF2-40B4-BE49-F238E27FC236}">
                <a16:creationId xmlns:a16="http://schemas.microsoft.com/office/drawing/2014/main" id="{A0C4BC14-8F77-4CA2-80EF-22F5250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81550"/>
            <a:ext cx="2076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selected_evidence
1,402 first rescues</a:t>
            </a:r>
          </a:p>
        </p:txBody>
      </p:sp>
      <p:sp>
        <p:nvSpPr>
          <p:cNvPr id="6" name="gan-stat-two">
            <a:extLst xmlns:a="http://schemas.openxmlformats.org/drawingml/2006/main">
              <a:ext uri="{FF2B5EF4-FFF2-40B4-BE49-F238E27FC236}">
                <a16:creationId xmlns:a16="http://schemas.microsoft.com/office/drawing/2014/main" id="{6229E30D-DE04-4B0F-9A2F-8EA777A1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0764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C6553D"/>
                </a:solidFill>
                <a:latin typeface="Helvetica Neue"/>
                <a:ea typeface="Helvetica Neue"/>
                <a:cs typeface="Helvetica Neue"/>
              </a:defRPr>
            </a:pPr>
            <a:r>
              <a:t>152 / 28</a:t>
            </a:r>
          </a:p>
        </p:txBody>
      </p:sp>
      <p:sp>
        <p:nvSpPr>
          <p:cNvPr id="7" name="gan-stat-two-label">
            <a:extLst xmlns:a="http://schemas.openxmlformats.org/drawingml/2006/main">
              <a:ext uri="{FF2B5EF4-FFF2-40B4-BE49-F238E27FC236}">
                <a16:creationId xmlns:a16="http://schemas.microsoft.com/office/drawing/2014/main" id="{BB199AA9-E8A6-48FF-852F-A210E16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2076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monthly_diary
any-rescue / any-harm</a:t>
            </a:r>
          </a:p>
        </p:txBody>
      </p:sp>
      <p:sp>
        <p:nvSpPr>
          <p:cNvPr id="8" name="gan-boundary">
            <a:extLst xmlns:a="http://schemas.openxmlformats.org/drawingml/2006/main">
              <a:ext uri="{FF2B5EF4-FFF2-40B4-BE49-F238E27FC236}">
                <a16:creationId xmlns:a16="http://schemas.microsoft.com/office/drawing/2014/main" id="{40E920D1-7755-4912-9482-DDC24DE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 dev750 · pooled six-model cells · ordered replay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5429250" cy="4629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98080720894c24"/>
          </a:graphicData>
        </a:graphic>
      </p:graphicFrame>
      <p:sp>
        <p:nvSpPr>
          <p:cNvPr id="10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4B9758CF-AE33-4DE7-ABF4-E6859DFF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4524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xect-title">
            <a:extLst xmlns:a="http://schemas.openxmlformats.org/drawingml/2006/main">
              <a:ext uri="{FF2B5EF4-FFF2-40B4-BE49-F238E27FC236}">
                <a16:creationId xmlns:a16="http://schemas.microsoft.com/office/drawing/2014/main" id="{559DE7D7-D4E2-4C41-B5BE-9847E2C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014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On ExECT, family rules have four different effects</a:t>
            </a:r>
          </a:p>
        </p:txBody>
      </p:sp>
      <p:sp>
        <p:nvSpPr>
          <p:cNvPr id="2" name="exect-chart-label">
            <a:extLst xmlns:a="http://schemas.openxmlformats.org/drawingml/2006/main">
              <a:ext uri="{FF2B5EF4-FFF2-40B4-BE49-F238E27FC236}">
                <a16:creationId xmlns:a16="http://schemas.microsoft.com/office/drawing/2014/main" id="{E98203A2-5A89-4587-991B-5AD1C5C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542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Any rescue and harm events by family</a:t>
            </a:r>
          </a:p>
        </p:txBody>
      </p:sp>
      <p:sp>
        <p:nvSpPr>
          <p:cNvPr id="3" name="exect-interpretation">
            <a:extLst xmlns:a="http://schemas.openxmlformats.org/drawingml/2006/main">
              <a:ext uri="{FF2B5EF4-FFF2-40B4-BE49-F238E27FC236}">
                <a16:creationId xmlns:a16="http://schemas.microsoft.com/office/drawing/2014/main" id="{55D65942-ECA2-4FC4-8308-344FCE0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55054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Diagnosis rules repair the concept inventory; the seizure-frequency gate trims unsupported state. The Prescription lens reverses the rescue–harm balance. Investigations barely moves.</a:t>
            </a:r>
          </a:p>
        </p:txBody>
      </p:sp>
      <p:sp>
        <p:nvSpPr>
          <p:cNvPr id="4" name="dx-callout">
            <a:extLst xmlns:a="http://schemas.openxmlformats.org/drawingml/2006/main">
              <a:ext uri="{FF2B5EF4-FFF2-40B4-BE49-F238E27FC236}">
                <a16:creationId xmlns:a16="http://schemas.microsoft.com/office/drawing/2014/main" id="{B0FBEA13-5768-4332-AD7C-8CCCA828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57525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Diagnosis
0.39 → 0.58 exact · 214 rescue / 49 harm</a:t>
            </a:r>
          </a:p>
        </p:txBody>
      </p:sp>
      <p:sp>
        <p:nvSpPr>
          <p:cNvPr id="5" name="sf-callout">
            <a:extLst xmlns:a="http://schemas.openxmlformats.org/drawingml/2006/main">
              <a:ext uri="{FF2B5EF4-FFF2-40B4-BE49-F238E27FC236}">
                <a16:creationId xmlns:a16="http://schemas.microsoft.com/office/drawing/2014/main" id="{6E249E07-E398-47B8-A10E-0E15FCC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Seizure frequency
producer gate: 305 rescue / 0 harm</a:t>
            </a:r>
          </a:p>
        </p:txBody>
      </p:sp>
      <p:sp>
        <p:nvSpPr>
          <p:cNvPr id="6" name="rx-callout">
            <a:extLst xmlns:a="http://schemas.openxmlformats.org/drawingml/2006/main">
              <a:ext uri="{FF2B5EF4-FFF2-40B4-BE49-F238E27FC236}">
                <a16:creationId xmlns:a16="http://schemas.microsoft.com/office/drawing/2014/main" id="{05075449-AA9D-447A-A74C-A7383CD0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67325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C6553D"/>
                </a:solidFill>
                <a:latin typeface="Helvetica Neue"/>
                <a:ea typeface="Helvetica Neue"/>
                <a:cs typeface="Helvetica Neue"/>
              </a:defRPr>
            </a:pPr>
            <a:r>
              <a:t>Prescription
0.83 → 0.81 exact · 44 rescue / 60 harm</a:t>
            </a:r>
          </a:p>
        </p:txBody>
      </p:sp>
      <p:sp>
        <p:nvSpPr>
          <p:cNvPr id="7" name="exect-boundary">
            <a:extLst xmlns:a="http://schemas.openxmlformats.org/drawingml/2006/main">
              <a:ext uri="{FF2B5EF4-FFF2-40B4-BE49-F238E27FC236}">
                <a16:creationId xmlns:a16="http://schemas.microsoft.com/office/drawing/2014/main" id="{267396CF-FFBC-4A03-B4D7-73DBD65F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 dev140 · 830 replayable six-model letter cells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5429250" cy="4629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b5e6dfa1b449d9"/>
          </a:graphicData>
        </a:graphic>
      </p:graphicFrame>
      <p:sp>
        <p:nvSpPr>
          <p:cNvPr id="9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5D1CE45-F2E1-4F84-94E2-C205F04C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301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undary-context">
            <a:extLst xmlns:a="http://schemas.openxmlformats.org/drawingml/2006/main">
              <a:ext uri="{FF2B5EF4-FFF2-40B4-BE49-F238E27FC236}">
                <a16:creationId xmlns:a16="http://schemas.microsoft.com/office/drawing/2014/main" id="{33A4AE0D-47D9-4ACD-9B2B-50CA2EBD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WHAT THIS EVIDENCE PERMITS</a:t>
            </a:r>
          </a:p>
        </p:txBody>
      </p:sp>
      <p:sp>
        <p:nvSpPr>
          <p:cNvPr id="2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8DDF4567-72CB-4DE5-8A51-27D60A96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668000" cy="280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Attribution makes the trade-off visible. It does not prove which stage is necessary.</a:t>
            </a:r>
          </a:p>
        </p:txBody>
      </p:sp>
      <p:sp>
        <p:nvSpPr>
          <p:cNvPr id="3" name="boundary-list">
            <a:extLst xmlns:a="http://schemas.openxmlformats.org/drawingml/2006/main">
              <a:ext uri="{FF2B5EF4-FFF2-40B4-BE49-F238E27FC236}">
                <a16:creationId xmlns:a16="http://schemas.microsoft.com/office/drawing/2014/main" id="{C14A0D91-BCC3-477C-BD0B-B0A36D24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723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 only
First changer, not leave-one-stage-out
No component rewrite is authorized</a:t>
            </a:r>
          </a:p>
        </p:txBody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B2AAAD6-9139-4CD6-BA21-4C1BEEF4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469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2026-08-09T20:31:25.6480000Z</dcterms:created>
  <dcterms:modified xsi:type="dcterms:W3CDTF">2026-08-09T20:31:25.6480000Z</dcterms:modified>
</coreProperties>
</file>